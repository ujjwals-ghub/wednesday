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68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5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747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C8E1E-9709-E094-C5DB-C8CA4D81D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A9049D-68D4-1E20-7325-15EADBB58F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6FB4FE-737B-0865-57B8-E6310A4D48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BB5958-ED1D-A40F-A2A2-7DA5CBBAF6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5428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EE2BE142-6219-4A32-A8D4-FAE1D2C0A131}"/>
              </a:ext>
            </a:extLst>
          </p:cNvPr>
          <p:cNvGrpSpPr/>
          <p:nvPr/>
        </p:nvGrpSpPr>
        <p:grpSpPr>
          <a:xfrm>
            <a:off x="0" y="-7749"/>
            <a:ext cx="12192000" cy="6858000"/>
            <a:chOff x="0" y="0"/>
            <a:chExt cx="12192000" cy="6858000"/>
          </a:xfrm>
        </p:grpSpPr>
        <p:sp>
          <p:nvSpPr>
            <p:cNvPr id="4" name="Shape 2"/>
            <p:cNvSpPr/>
            <p:nvPr/>
          </p:nvSpPr>
          <p:spPr>
            <a:xfrm>
              <a:off x="0" y="146304"/>
              <a:ext cx="3413760" cy="655929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370311" y="4526280"/>
              <a:ext cx="2663405" cy="48768"/>
            </a:xfrm>
            <a:prstGeom prst="rect">
              <a:avLst/>
            </a:prstGeom>
            <a:solidFill>
              <a:srgbClr val="C8960C"/>
            </a:solidFill>
            <a:ln w="12700">
              <a:solidFill>
                <a:srgbClr val="C8960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51FD539-0B18-4B17-AC3E-6C2E56F41895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858000"/>
            </a:xfrm>
          </p:grpSpPr>
          <p:sp>
            <p:nvSpPr>
              <p:cNvPr id="2" name="Shape 0"/>
              <p:cNvSpPr/>
              <p:nvPr/>
            </p:nvSpPr>
            <p:spPr>
              <a:xfrm>
                <a:off x="0" y="0"/>
                <a:ext cx="12192000" cy="146304"/>
              </a:xfrm>
              <a:prstGeom prst="rect">
                <a:avLst/>
              </a:prstGeom>
              <a:solidFill>
                <a:srgbClr val="C8960C"/>
              </a:solidFill>
              <a:ln w="12700">
                <a:solidFill>
                  <a:srgbClr val="C8960C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" name="Shape 1"/>
              <p:cNvSpPr/>
              <p:nvPr/>
            </p:nvSpPr>
            <p:spPr>
              <a:xfrm>
                <a:off x="0" y="6705600"/>
                <a:ext cx="12192000" cy="152400"/>
              </a:xfrm>
              <a:prstGeom prst="rect">
                <a:avLst/>
              </a:prstGeom>
              <a:solidFill>
                <a:srgbClr val="C8960C"/>
              </a:solidFill>
              <a:ln w="12700">
                <a:solidFill>
                  <a:srgbClr val="C8960C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Shape 9"/>
              <p:cNvSpPr/>
              <p:nvPr/>
            </p:nvSpPr>
            <p:spPr>
              <a:xfrm>
                <a:off x="3315642" y="146304"/>
                <a:ext cx="8876358" cy="6559296"/>
              </a:xfrm>
              <a:prstGeom prst="rect">
                <a:avLst/>
              </a:prstGeom>
              <a:solidFill>
                <a:srgbClr val="003366"/>
              </a:solidFill>
              <a:ln w="12700">
                <a:solidFill>
                  <a:srgbClr val="003366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7E8F91F1-D33C-48E9-9439-A6687AFA7DFD}"/>
                </a:ext>
              </a:extLst>
            </p:cNvPr>
            <p:cNvGrpSpPr/>
            <p:nvPr/>
          </p:nvGrpSpPr>
          <p:grpSpPr>
            <a:xfrm>
              <a:off x="3655695" y="426720"/>
              <a:ext cx="3048000" cy="463296"/>
              <a:chOff x="3655695" y="426720"/>
              <a:chExt cx="3048000" cy="463296"/>
            </a:xfrm>
          </p:grpSpPr>
          <p:sp>
            <p:nvSpPr>
              <p:cNvPr id="12" name="Shape 10"/>
              <p:cNvSpPr/>
              <p:nvPr/>
            </p:nvSpPr>
            <p:spPr>
              <a:xfrm>
                <a:off x="3655695" y="426720"/>
                <a:ext cx="3048000" cy="463296"/>
              </a:xfrm>
              <a:prstGeom prst="rect">
                <a:avLst/>
              </a:prstGeom>
              <a:solidFill>
                <a:srgbClr val="C8960C"/>
              </a:solidFill>
              <a:ln w="12700">
                <a:solidFill>
                  <a:srgbClr val="C8960C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Text 11"/>
              <p:cNvSpPr/>
              <p:nvPr/>
            </p:nvSpPr>
            <p:spPr>
              <a:xfrm>
                <a:off x="3794241" y="426720"/>
                <a:ext cx="2770909" cy="4632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600" b="1" dirty="0">
                    <a:solidFill>
                      <a:srgbClr val="003366"/>
                    </a:solidFill>
                  </a:rPr>
                  <a:t>TERM PROJECT</a:t>
                </a:r>
                <a:endParaRPr lang="en-US" sz="1600" dirty="0"/>
              </a:p>
            </p:txBody>
          </p:sp>
        </p:grpSp>
        <p:sp>
          <p:nvSpPr>
            <p:cNvPr id="15" name="Shape 13"/>
            <p:cNvSpPr/>
            <p:nvPr/>
          </p:nvSpPr>
          <p:spPr>
            <a:xfrm>
              <a:off x="3533775" y="2687513"/>
              <a:ext cx="8168640" cy="50268"/>
            </a:xfrm>
            <a:prstGeom prst="rect">
              <a:avLst/>
            </a:prstGeom>
            <a:solidFill>
              <a:srgbClr val="C8960C"/>
            </a:solidFill>
            <a:ln w="12700">
              <a:solidFill>
                <a:srgbClr val="C8960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394E0BD-D4FA-419D-AC66-F1E64F9FA301}"/>
                </a:ext>
              </a:extLst>
            </p:cNvPr>
            <p:cNvGrpSpPr/>
            <p:nvPr/>
          </p:nvGrpSpPr>
          <p:grpSpPr>
            <a:xfrm>
              <a:off x="44169" y="445008"/>
              <a:ext cx="3212862" cy="5547360"/>
              <a:chOff x="187044" y="292608"/>
              <a:chExt cx="3048000" cy="5376672"/>
            </a:xfrm>
          </p:grpSpPr>
          <p:sp>
            <p:nvSpPr>
              <p:cNvPr id="8" name="Text 6"/>
              <p:cNvSpPr/>
              <p:nvPr/>
            </p:nvSpPr>
            <p:spPr>
              <a:xfrm>
                <a:off x="187044" y="3413760"/>
                <a:ext cx="3048000" cy="9753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sz="1330" b="1" dirty="0">
                    <a:solidFill>
                      <a:srgbClr val="003366"/>
                    </a:solidFill>
                  </a:rPr>
                  <a:t>Indian Institute of Technology</a:t>
                </a:r>
                <a:r>
                  <a:rPr lang="en-US" sz="1330" dirty="0"/>
                  <a:t> </a:t>
                </a:r>
                <a:r>
                  <a:rPr lang="en-US" sz="1330" b="1" dirty="0">
                    <a:solidFill>
                      <a:srgbClr val="003366"/>
                    </a:solidFill>
                  </a:rPr>
                  <a:t>Guwahati</a:t>
                </a:r>
                <a:endParaRPr lang="en-US" sz="1330" dirty="0"/>
              </a:p>
            </p:txBody>
          </p:sp>
          <p:sp>
            <p:nvSpPr>
              <p:cNvPr id="10" name="Text 8"/>
              <p:cNvSpPr/>
              <p:nvPr/>
            </p:nvSpPr>
            <p:spPr>
              <a:xfrm>
                <a:off x="187044" y="4572000"/>
                <a:ext cx="3048000" cy="10972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sz="1200" dirty="0">
                    <a:solidFill>
                      <a:srgbClr val="003366"/>
                    </a:solidFill>
                  </a:rPr>
                  <a:t>BSc. (Hons.) Data Science &amp; Artificial Intelligence</a:t>
                </a:r>
              </a:p>
              <a:p>
                <a:pPr algn="ctr"/>
                <a:r>
                  <a:rPr lang="en-US" sz="1200" dirty="0">
                    <a:solidFill>
                      <a:srgbClr val="003366"/>
                    </a:solidFill>
                  </a:rPr>
                  <a:t>Online Degree Programme</a:t>
                </a:r>
              </a:p>
            </p:txBody>
          </p:sp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64F0957D-3F23-4706-88FD-94B6648BF3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1098" y="292608"/>
                <a:ext cx="2879893" cy="2889504"/>
              </a:xfrm>
              <a:prstGeom prst="rect">
                <a:avLst/>
              </a:prstGeom>
            </p:spPr>
          </p:pic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A530B8-A3A2-4978-A35E-7D117B7D701A}"/>
              </a:ext>
            </a:extLst>
          </p:cNvPr>
          <p:cNvGrpSpPr/>
          <p:nvPr/>
        </p:nvGrpSpPr>
        <p:grpSpPr>
          <a:xfrm>
            <a:off x="3794241" y="2996670"/>
            <a:ext cx="8107680" cy="2760457"/>
            <a:chOff x="3637171" y="2996670"/>
            <a:chExt cx="8107680" cy="2760457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7838290-E246-4CFE-9595-3A86F1A7A8C3}"/>
                </a:ext>
              </a:extLst>
            </p:cNvPr>
            <p:cNvGrpSpPr/>
            <p:nvPr/>
          </p:nvGrpSpPr>
          <p:grpSpPr>
            <a:xfrm>
              <a:off x="3637171" y="2996670"/>
              <a:ext cx="2316480" cy="2760456"/>
              <a:chOff x="3560971" y="2931943"/>
              <a:chExt cx="2316480" cy="2760456"/>
            </a:xfrm>
          </p:grpSpPr>
          <p:sp>
            <p:nvSpPr>
              <p:cNvPr id="16" name="Text 14"/>
              <p:cNvSpPr/>
              <p:nvPr/>
            </p:nvSpPr>
            <p:spPr>
              <a:xfrm>
                <a:off x="3560971" y="2931943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Student Name :</a:t>
                </a:r>
                <a:endParaRPr lang="en-US" dirty="0"/>
              </a:p>
            </p:txBody>
          </p:sp>
          <p:sp>
            <p:nvSpPr>
              <p:cNvPr id="18" name="Text 16"/>
              <p:cNvSpPr/>
              <p:nvPr/>
            </p:nvSpPr>
            <p:spPr>
              <a:xfrm>
                <a:off x="3560971" y="3322931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Student ID :</a:t>
                </a:r>
                <a:endParaRPr lang="en-US" dirty="0"/>
              </a:p>
            </p:txBody>
          </p:sp>
          <p:sp>
            <p:nvSpPr>
              <p:cNvPr id="20" name="Text 18"/>
              <p:cNvSpPr/>
              <p:nvPr/>
            </p:nvSpPr>
            <p:spPr>
              <a:xfrm>
                <a:off x="3560971" y="4104907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Programme :</a:t>
                </a:r>
                <a:endParaRPr lang="en-US" dirty="0"/>
              </a:p>
            </p:txBody>
          </p:sp>
          <p:sp>
            <p:nvSpPr>
              <p:cNvPr id="22" name="Text 20"/>
              <p:cNvSpPr/>
              <p:nvPr/>
            </p:nvSpPr>
            <p:spPr>
              <a:xfrm>
                <a:off x="3560971" y="4495895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Course Code :</a:t>
                </a:r>
                <a:endParaRPr lang="en-US" dirty="0"/>
              </a:p>
            </p:txBody>
          </p:sp>
          <p:sp>
            <p:nvSpPr>
              <p:cNvPr id="24" name="Text 22"/>
              <p:cNvSpPr/>
              <p:nvPr/>
            </p:nvSpPr>
            <p:spPr>
              <a:xfrm>
                <a:off x="3560971" y="4886883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Course Name :</a:t>
                </a:r>
                <a:endParaRPr lang="en-US" dirty="0"/>
              </a:p>
            </p:txBody>
          </p:sp>
          <p:sp>
            <p:nvSpPr>
              <p:cNvPr id="26" name="Text 24"/>
              <p:cNvSpPr/>
              <p:nvPr/>
            </p:nvSpPr>
            <p:spPr>
              <a:xfrm>
                <a:off x="3560971" y="5277871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Trimester :</a:t>
                </a:r>
                <a:endParaRPr lang="en-US" dirty="0"/>
              </a:p>
            </p:txBody>
          </p:sp>
          <p:sp>
            <p:nvSpPr>
              <p:cNvPr id="30" name="Text 16">
                <a:extLst>
                  <a:ext uri="{FF2B5EF4-FFF2-40B4-BE49-F238E27FC236}">
                    <a16:creationId xmlns:a16="http://schemas.microsoft.com/office/drawing/2014/main" id="{3144A76E-D519-41CC-9D78-E279B752AECC}"/>
                  </a:ext>
                </a:extLst>
              </p:cNvPr>
              <p:cNvSpPr/>
              <p:nvPr/>
            </p:nvSpPr>
            <p:spPr>
              <a:xfrm>
                <a:off x="3560971" y="3713919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Email ID :</a:t>
                </a:r>
                <a:endParaRPr lang="en-US" dirty="0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734901-5BF2-49C3-910A-97290AE0D4FF}"/>
                </a:ext>
              </a:extLst>
            </p:cNvPr>
            <p:cNvGrpSpPr/>
            <p:nvPr/>
          </p:nvGrpSpPr>
          <p:grpSpPr>
            <a:xfrm>
              <a:off x="6014611" y="2996671"/>
              <a:ext cx="5730240" cy="2760456"/>
              <a:chOff x="5938411" y="2924237"/>
              <a:chExt cx="5730240" cy="2760456"/>
            </a:xfrm>
          </p:grpSpPr>
          <p:sp>
            <p:nvSpPr>
              <p:cNvPr id="17" name="Text 15"/>
              <p:cNvSpPr/>
              <p:nvPr/>
            </p:nvSpPr>
            <p:spPr>
              <a:xfrm>
                <a:off x="5938411" y="2924237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Ujjwal Gupta</a:t>
                </a:r>
                <a:endParaRPr lang="en-US" dirty="0"/>
              </a:p>
            </p:txBody>
          </p:sp>
          <p:sp>
            <p:nvSpPr>
              <p:cNvPr id="19" name="Text 17"/>
              <p:cNvSpPr/>
              <p:nvPr/>
            </p:nvSpPr>
            <p:spPr>
              <a:xfrm>
                <a:off x="5938411" y="3315225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23035011036</a:t>
                </a:r>
                <a:endParaRPr lang="en-US" dirty="0"/>
              </a:p>
            </p:txBody>
          </p:sp>
          <p:sp>
            <p:nvSpPr>
              <p:cNvPr id="21" name="Text 19"/>
              <p:cNvSpPr/>
              <p:nvPr/>
            </p:nvSpPr>
            <p:spPr>
              <a:xfrm>
                <a:off x="5938411" y="4097201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BSc. (Hons.) Data Science &amp; AI</a:t>
                </a:r>
                <a:endParaRPr lang="en-US" dirty="0"/>
              </a:p>
            </p:txBody>
          </p:sp>
          <p:sp>
            <p:nvSpPr>
              <p:cNvPr id="23" name="Text 21"/>
              <p:cNvSpPr/>
              <p:nvPr/>
            </p:nvSpPr>
            <p:spPr>
              <a:xfrm>
                <a:off x="5938411" y="4488189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DA379</a:t>
                </a:r>
                <a:endParaRPr lang="en-US" dirty="0"/>
              </a:p>
            </p:txBody>
          </p:sp>
          <p:sp>
            <p:nvSpPr>
              <p:cNvPr id="25" name="Text 23"/>
              <p:cNvSpPr/>
              <p:nvPr/>
            </p:nvSpPr>
            <p:spPr>
              <a:xfrm>
                <a:off x="5938411" y="4879177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Term Project III</a:t>
                </a:r>
                <a:endParaRPr lang="en-US" dirty="0"/>
              </a:p>
            </p:txBody>
          </p:sp>
          <p:sp>
            <p:nvSpPr>
              <p:cNvPr id="27" name="Text 25"/>
              <p:cNvSpPr/>
              <p:nvPr/>
            </p:nvSpPr>
            <p:spPr>
              <a:xfrm>
                <a:off x="5938411" y="5270165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 IX</a:t>
                </a:r>
                <a:endParaRPr lang="en-US" dirty="0"/>
              </a:p>
            </p:txBody>
          </p:sp>
          <p:sp>
            <p:nvSpPr>
              <p:cNvPr id="33" name="Text 17">
                <a:extLst>
                  <a:ext uri="{FF2B5EF4-FFF2-40B4-BE49-F238E27FC236}">
                    <a16:creationId xmlns:a16="http://schemas.microsoft.com/office/drawing/2014/main" id="{D9C22DD5-566E-4E5C-B5B7-EF56DE8DF892}"/>
                  </a:ext>
                </a:extLst>
              </p:cNvPr>
              <p:cNvSpPr/>
              <p:nvPr/>
            </p:nvSpPr>
            <p:spPr>
              <a:xfrm>
                <a:off x="5938411" y="3706213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g.ujjwal@op.iitg.ac.in</a:t>
                </a:r>
                <a:endParaRPr lang="en-US" dirty="0"/>
              </a:p>
            </p:txBody>
          </p:sp>
        </p:grpSp>
      </p:grpSp>
      <p:sp>
        <p:nvSpPr>
          <p:cNvPr id="14" name="Text 12"/>
          <p:cNvSpPr/>
          <p:nvPr/>
        </p:nvSpPr>
        <p:spPr>
          <a:xfrm>
            <a:off x="3560971" y="711756"/>
            <a:ext cx="8168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700" b="1" dirty="0">
                <a:solidFill>
                  <a:srgbClr val="FFFFFF"/>
                </a:solidFill>
              </a:rPr>
              <a:t>Wednesday: Your Personal AI Assistant</a:t>
            </a:r>
            <a:endParaRPr lang="en-US" sz="3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 AM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Me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2560320"/>
            <a:ext cx="2286000" cy="2286000"/>
          </a:xfrm>
          <a:prstGeom prst="ellipse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icons/FaUser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108960"/>
            <a:ext cx="1188720" cy="11887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114800" y="233172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Ujjwal Gupta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4114800" y="2971800"/>
            <a:ext cx="6949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BSc. (Hons.) Data Science &amp; Artificial Intelligence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 Guwahati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114800" y="3886200"/>
            <a:ext cx="5852160" cy="502920"/>
          </a:xfrm>
          <a:prstGeom prst="roundRect">
            <a:avLst>
              <a:gd name="adj" fmla="val 14545"/>
            </a:avLst>
          </a:prstGeom>
          <a:solidFill>
            <a:srgbClr val="C896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4114800" y="388620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Project 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114800" y="4617720"/>
            <a:ext cx="6949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i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Project: Wednesday — Your Personal AI Assistant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Build Another Voice Assistant?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3035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3E6EB"/>
            </a:solidFill>
            <a:prstDash val="solid"/>
          </a:ln>
          <a:effectLst>
            <a:outerShdw blurRad="76200" dist="25400" dir="5400000" algn="bl" rotWithShape="0">
              <a:srgbClr val="9AA3AF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0" y="2057400"/>
            <a:ext cx="914400" cy="914400"/>
          </a:xfrm>
          <a:prstGeom prst="ellipse">
            <a:avLst/>
          </a:prstGeom>
          <a:solidFill>
            <a:srgbClr val="5B647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icons/Fa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56" y="2276856"/>
            <a:ext cx="475488" cy="47548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3108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Voice Assistants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703320"/>
            <a:ext cx="43891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 word, decision-making, and skills all live on someone else’s server</a:t>
            </a:r>
            <a:endParaRPr lang="en-US" sz="14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 connection, no assistant</a:t>
            </a:r>
            <a:endParaRPr lang="en-US" sz="14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said near the mic leaves the room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737360"/>
            <a:ext cx="53035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3E6EB"/>
            </a:solidFill>
            <a:prstDash val="solid"/>
          </a:ln>
          <a:effectLst>
            <a:outerShdw blurRad="76200" dist="25400" dir="5400000" algn="bl" rotWithShape="0">
              <a:srgbClr val="9AA3AF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8503920" y="2057400"/>
            <a:ext cx="914400" cy="914400"/>
          </a:xfrm>
          <a:prstGeom prst="ellipse">
            <a:avLst/>
          </a:prstGeom>
          <a:solidFill>
            <a:srgbClr val="C8960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icons/FaMicro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3376" y="2276856"/>
            <a:ext cx="475488" cy="4754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583680" y="3108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Set Out to Build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766560" y="3703320"/>
            <a:ext cx="43891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end-to-end on my own Windows machine</a:t>
            </a:r>
            <a:endParaRPr lang="en-US" sz="14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skill is one small module, not a rewrite</a:t>
            </a:r>
            <a:endParaRPr lang="en-US" sz="14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the pipeline stays off the cloud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870448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was co-developed by me and Arpit.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3F46B9-F029-7888-D51C-B8C6AF3E8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3D3DBE5-70D5-7B64-F501-2CA15A135882}"/>
              </a:ext>
            </a:extLst>
          </p:cNvPr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DEVELOPERS</a:t>
            </a:r>
            <a:endParaRPr lang="en-US" sz="12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8639234-7A9E-4510-8B94-B052AFEDD206}"/>
              </a:ext>
            </a:extLst>
          </p:cNvPr>
          <p:cNvSpPr txBox="1"/>
          <p:nvPr/>
        </p:nvSpPr>
        <p:spPr>
          <a:xfrm>
            <a:off x="548640" y="722376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Build what?</a:t>
            </a:r>
            <a:endParaRPr lang="en-US" sz="2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421AACA-3B1F-8796-898E-0D4DC363382F}"/>
              </a:ext>
            </a:extLst>
          </p:cNvPr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A5FD38D-41A7-EA0A-E499-8835DFF83A2F}"/>
              </a:ext>
            </a:extLst>
          </p:cNvPr>
          <p:cNvSpPr txBox="1"/>
          <p:nvPr/>
        </p:nvSpPr>
        <p:spPr>
          <a:xfrm>
            <a:off x="11183112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D387B74-FEC2-A741-0F72-97CC8B92DD7C}"/>
              </a:ext>
            </a:extLst>
          </p:cNvPr>
          <p:cNvSpPr/>
          <p:nvPr/>
        </p:nvSpPr>
        <p:spPr>
          <a:xfrm>
            <a:off x="548640" y="1737360"/>
            <a:ext cx="53035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3E6EB"/>
            </a:solidFill>
            <a:prstDash val="solid"/>
          </a:ln>
          <a:effectLst>
            <a:outerShdw blurRad="76200" dist="25400" dir="5400000" algn="bl" rotWithShape="0">
              <a:srgbClr val="9AA3AF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122F7B4-73FB-1E84-5510-ED41A0A79AA5}"/>
              </a:ext>
            </a:extLst>
          </p:cNvPr>
          <p:cNvSpPr/>
          <p:nvPr/>
        </p:nvSpPr>
        <p:spPr>
          <a:xfrm>
            <a:off x="2743200" y="2057400"/>
            <a:ext cx="914400" cy="914400"/>
          </a:xfrm>
          <a:prstGeom prst="ellipse">
            <a:avLst/>
          </a:prstGeom>
          <a:solidFill>
            <a:srgbClr val="5B647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9259D94-6D58-2172-4312-4506E1F52EAF}"/>
              </a:ext>
            </a:extLst>
          </p:cNvPr>
          <p:cNvSpPr txBox="1"/>
          <p:nvPr/>
        </p:nvSpPr>
        <p:spPr>
          <a:xfrm>
            <a:off x="822960" y="3108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Arpit Raj</a:t>
            </a:r>
            <a:endParaRPr lang="en-US" sz="1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CF8F956-CEC7-E9E0-BAB1-91BE1F7D2148}"/>
              </a:ext>
            </a:extLst>
          </p:cNvPr>
          <p:cNvSpPr txBox="1"/>
          <p:nvPr/>
        </p:nvSpPr>
        <p:spPr>
          <a:xfrm>
            <a:off x="1005840" y="3703320"/>
            <a:ext cx="43891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/>
              <a:t>Audio Pipeline</a:t>
            </a:r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/>
              <a:t>Deep Learning models</a:t>
            </a:r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/>
              <a:t>Speech I/O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E6DEAC66-731B-3BCC-C690-CBE525B05ADD}"/>
              </a:ext>
            </a:extLst>
          </p:cNvPr>
          <p:cNvSpPr/>
          <p:nvPr/>
        </p:nvSpPr>
        <p:spPr>
          <a:xfrm>
            <a:off x="6309360" y="1737360"/>
            <a:ext cx="53035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3E6EB"/>
            </a:solidFill>
            <a:prstDash val="solid"/>
          </a:ln>
          <a:effectLst>
            <a:outerShdw blurRad="76200" dist="25400" dir="5400000" algn="bl" rotWithShape="0">
              <a:srgbClr val="9AA3AF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60393B9A-98ED-5D5D-2BC6-D2544124B2AB}"/>
              </a:ext>
            </a:extLst>
          </p:cNvPr>
          <p:cNvSpPr/>
          <p:nvPr/>
        </p:nvSpPr>
        <p:spPr>
          <a:xfrm>
            <a:off x="8503920" y="2057400"/>
            <a:ext cx="914400" cy="914400"/>
          </a:xfrm>
          <a:prstGeom prst="ellipse">
            <a:avLst/>
          </a:prstGeom>
          <a:solidFill>
            <a:srgbClr val="C896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C213C3E2-11A5-6523-E525-5893380EBC76}"/>
              </a:ext>
            </a:extLst>
          </p:cNvPr>
          <p:cNvSpPr txBox="1"/>
          <p:nvPr/>
        </p:nvSpPr>
        <p:spPr>
          <a:xfrm>
            <a:off x="6583680" y="3108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Ujjwal Gupta</a:t>
            </a:r>
            <a:endParaRPr lang="en-US" sz="18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85820BA-F618-D55B-A408-9C33E531C82B}"/>
              </a:ext>
            </a:extLst>
          </p:cNvPr>
          <p:cNvSpPr txBox="1"/>
          <p:nvPr/>
        </p:nvSpPr>
        <p:spPr>
          <a:xfrm>
            <a:off x="6766560" y="3703320"/>
            <a:ext cx="43891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/>
              <a:t>Core Modules</a:t>
            </a:r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/>
              <a:t>Command Dispatcher</a:t>
            </a:r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/>
              <a:t>Action Modules</a:t>
            </a:r>
          </a:p>
        </p:txBody>
      </p:sp>
      <p:pic>
        <p:nvPicPr>
          <p:cNvPr id="20" name="Image 0" descr="icons/FaUserCircle.png">
            <a:extLst>
              <a:ext uri="{FF2B5EF4-FFF2-40B4-BE49-F238E27FC236}">
                <a16:creationId xmlns:a16="http://schemas.microsoft.com/office/drawing/2014/main" id="{A9843038-88CD-1C49-A269-29D94D91D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856232"/>
            <a:ext cx="1188720" cy="1188720"/>
          </a:xfrm>
          <a:prstGeom prst="rect">
            <a:avLst/>
          </a:prstGeom>
        </p:spPr>
      </p:pic>
      <p:pic>
        <p:nvPicPr>
          <p:cNvPr id="22" name="Image 0" descr="icons/FaUserCircle.png">
            <a:extLst>
              <a:ext uri="{FF2B5EF4-FFF2-40B4-BE49-F238E27FC236}">
                <a16:creationId xmlns:a16="http://schemas.microsoft.com/office/drawing/2014/main" id="{3D81B7D8-017E-F05B-6794-58CE535233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920240"/>
            <a:ext cx="1188720" cy="1188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28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Wednesday Is Built With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917192" y="1988820"/>
            <a:ext cx="960120" cy="960120"/>
          </a:xfrm>
          <a:prstGeom prst="ellipse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icons/FaPyth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7621" y="2219249"/>
            <a:ext cx="499262" cy="49926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310896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593592"/>
            <a:ext cx="3057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application logic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14416" y="1988820"/>
            <a:ext cx="960120" cy="960120"/>
          </a:xfrm>
          <a:prstGeom prst="ellipse">
            <a:avLst/>
          </a:prstGeom>
          <a:solidFill>
            <a:srgbClr val="C8960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icons/Fa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4845" y="2219249"/>
            <a:ext cx="499262" cy="49926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74464" y="310896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PyQt6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4565904" y="3593592"/>
            <a:ext cx="3057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Animated, thread-safe GUI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311640" y="1988820"/>
            <a:ext cx="960120" cy="960120"/>
          </a:xfrm>
          <a:prstGeom prst="ellipse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icons/FaWaveSqu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2069" y="2219249"/>
            <a:ext cx="499262" cy="49926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71688" y="310896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Piper TTS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8263128" y="3593592"/>
            <a:ext cx="3057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neural voice output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1917192" y="4297680"/>
            <a:ext cx="960120" cy="960120"/>
          </a:xfrm>
          <a:prstGeom prst="ellipse">
            <a:avLst/>
          </a:prstGeom>
          <a:solidFill>
            <a:srgbClr val="C8960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icons/FaWindow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7621" y="4528109"/>
            <a:ext cx="499262" cy="49926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77240" y="541782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AppOpener + PyGetWindow</a:t>
            </a:r>
            <a:endParaRPr lang="en-US" sz="1550" dirty="0"/>
          </a:p>
        </p:txBody>
      </p:sp>
      <p:sp>
        <p:nvSpPr>
          <p:cNvPr id="21" name="Text 15"/>
          <p:cNvSpPr txBox="1"/>
          <p:nvPr/>
        </p:nvSpPr>
        <p:spPr>
          <a:xfrm>
            <a:off x="868680" y="5902452"/>
            <a:ext cx="3057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automation on Windows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614416" y="4297680"/>
            <a:ext cx="960120" cy="960120"/>
          </a:xfrm>
          <a:prstGeom prst="ellipse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4" descr="icons/Fa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44845" y="4528109"/>
            <a:ext cx="499262" cy="49926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474464" y="541782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550" dirty="0"/>
          </a:p>
        </p:txBody>
      </p:sp>
      <p:sp>
        <p:nvSpPr>
          <p:cNvPr id="25" name="Text 18"/>
          <p:cNvSpPr txBox="1"/>
          <p:nvPr/>
        </p:nvSpPr>
        <p:spPr>
          <a:xfrm>
            <a:off x="4565904" y="5902452"/>
            <a:ext cx="3057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&amp; to-do persistence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9311640" y="4297680"/>
            <a:ext cx="960120" cy="960120"/>
          </a:xfrm>
          <a:prstGeom prst="ellipse">
            <a:avLst/>
          </a:prstGeom>
          <a:solidFill>
            <a:srgbClr val="C8960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5" descr="icons/FaMicrophoneAl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42069" y="4528109"/>
            <a:ext cx="499262" cy="49926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171688" y="541782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openWakeWord + faster-whisper</a:t>
            </a:r>
            <a:endParaRPr lang="en-US" sz="1550" dirty="0"/>
          </a:p>
        </p:txBody>
      </p:sp>
      <p:sp>
        <p:nvSpPr>
          <p:cNvPr id="29" name="Text 21"/>
          <p:cNvSpPr txBox="1"/>
          <p:nvPr/>
        </p:nvSpPr>
        <p:spPr>
          <a:xfrm>
            <a:off x="8263128" y="5902452"/>
            <a:ext cx="3057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offline wake-word detection &amp; transcription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Classic Dataset — But Data All the Same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447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6EB"/>
            </a:solidFill>
            <a:prstDash val="solid"/>
          </a:ln>
          <a:effectLst>
            <a:outerShdw blurRad="76200" dist="25400" dir="5400000" algn="bl" rotWithShape="0">
              <a:srgbClr val="9AA3AF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91540" y="1965960"/>
            <a:ext cx="685800" cy="685800"/>
          </a:xfrm>
          <a:prstGeom prst="ellipse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icons/Fa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" y="2130552"/>
            <a:ext cx="356616" cy="35661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783080" y="1901952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config.json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783080" y="228600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settings — text/voice mode, wake words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63640" y="178308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6EB"/>
            </a:solidFill>
            <a:prstDash val="solid"/>
          </a:ln>
          <a:effectLst>
            <a:outerShdw blurRad="76200" dist="25400" dir="5400000" algn="bl" rotWithShape="0">
              <a:srgbClr val="9AA3AF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606540" y="1965960"/>
            <a:ext cx="685800" cy="685800"/>
          </a:xfrm>
          <a:prstGeom prst="ellipse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icons/FaTas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132" y="2130552"/>
            <a:ext cx="356616" cy="35661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98080" y="1901952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todo.json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498080" y="228600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task store the assistant reads &amp; writes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30632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 BEHIND THE CUSTOM WAKE-WORD MODEL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3401568"/>
            <a:ext cx="3454603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E3E6EB"/>
            </a:solidFill>
            <a:prstDash val="solid"/>
          </a:ln>
          <a:effectLst>
            <a:outerShdw blurRad="76200" dist="25400" dir="5400000" algn="bl" rotWithShape="0">
              <a:srgbClr val="9AA3AF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1841602" y="3653028"/>
            <a:ext cx="868680" cy="868680"/>
          </a:xfrm>
          <a:prstGeom prst="ellipse">
            <a:avLst/>
          </a:prstGeom>
          <a:solidFill>
            <a:srgbClr val="C8960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icons/FaWaveSqu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0085" y="3861511"/>
            <a:ext cx="451714" cy="45171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77240" y="4636008"/>
            <a:ext cx="299740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Impulse Responses</a:t>
            </a:r>
            <a:endParaRPr lang="en-US" sz="1450" dirty="0"/>
          </a:p>
        </p:txBody>
      </p:sp>
      <p:sp>
        <p:nvSpPr>
          <p:cNvPr id="22" name="Text 17"/>
          <p:cNvSpPr txBox="1"/>
          <p:nvPr/>
        </p:nvSpPr>
        <p:spPr>
          <a:xfrm>
            <a:off x="822960" y="5184648"/>
            <a:ext cx="290596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~270 room-acoustic clips, used to make synthetic wake-word samples sound like they were spoken in a real room.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4369003" y="3401568"/>
            <a:ext cx="3454603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E3E6EB"/>
            </a:solidFill>
            <a:prstDash val="solid"/>
          </a:ln>
          <a:effectLst>
            <a:outerShdw blurRad="76200" dist="25400" dir="5400000" algn="bl" rotWithShape="0">
              <a:srgbClr val="9AA3AF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5661965" y="3653028"/>
            <a:ext cx="868680" cy="868680"/>
          </a:xfrm>
          <a:prstGeom prst="ellipse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3" descr="icons/Fa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448" y="3861511"/>
            <a:ext cx="451714" cy="45171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597603" y="4636008"/>
            <a:ext cx="299740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ACAV100M Features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4643323" y="5184648"/>
            <a:ext cx="290596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negative-audio feature set, used to test the wake-word model against everyday background sound.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8189366" y="3401568"/>
            <a:ext cx="3454603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E3E6EB"/>
            </a:solidFill>
            <a:prstDash val="solid"/>
          </a:ln>
          <a:effectLst>
            <a:outerShdw blurRad="76200" dist="25400" dir="5400000" algn="bl" rotWithShape="0">
              <a:srgbClr val="9AA3AF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9482328" y="3653028"/>
            <a:ext cx="868680" cy="868680"/>
          </a:xfrm>
          <a:prstGeom prst="ellipse">
            <a:avLst/>
          </a:prstGeom>
          <a:solidFill>
            <a:srgbClr val="C8960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4" descr="icons/FaMus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0811" y="3861511"/>
            <a:ext cx="451714" cy="45171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417966" y="4636008"/>
            <a:ext cx="299740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FMA (Free Music Archive)</a:t>
            </a:r>
            <a:endParaRPr lang="en-US" sz="1450" dirty="0"/>
          </a:p>
        </p:txBody>
      </p:sp>
      <p:sp>
        <p:nvSpPr>
          <p:cNvPr id="32" name="Text 25"/>
          <p:cNvSpPr txBox="1"/>
          <p:nvPr/>
        </p:nvSpPr>
        <p:spPr>
          <a:xfrm>
            <a:off x="8463686" y="5184648"/>
            <a:ext cx="290596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music clips used as hard negatives, so music playing nearby doesn’t trigger the wake word.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Pipeline, Fully Pluggable Actions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480560" y="1481328"/>
            <a:ext cx="320040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3E6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4480560" y="1481328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80560" y="2212848"/>
            <a:ext cx="3200400" cy="566928"/>
          </a:xfrm>
          <a:prstGeom prst="roundRect">
            <a:avLst>
              <a:gd name="adj" fmla="val 14516"/>
            </a:avLst>
          </a:prstGeom>
          <a:solidFill>
            <a:srgbClr val="C896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480560" y="2212848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 Word Heard?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80560" y="2944368"/>
            <a:ext cx="320040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3E6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4480560" y="2944368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Listening (STT)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80560" y="3675888"/>
            <a:ext cx="320040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3E6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4480560" y="3675888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Matching (Action Registry)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80560" y="4407408"/>
            <a:ext cx="3200400" cy="566928"/>
          </a:xfrm>
          <a:prstGeom prst="roundRect">
            <a:avLst>
              <a:gd name="adj" fmla="val 14516"/>
            </a:avLst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480560" y="4407408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 Execution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40903" y="5257800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DDE3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3726180" y="5248656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 Reply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72723" y="5257800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DDE3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6858000" y="5257800"/>
            <a:ext cx="1508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080760" y="2048256"/>
            <a:ext cx="914" cy="164592"/>
          </a:xfrm>
          <a:prstGeom prst="line">
            <a:avLst/>
          </a:prstGeom>
          <a:noFill/>
          <a:ln w="25400">
            <a:solidFill>
              <a:srgbClr val="00336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080760" y="2779776"/>
            <a:ext cx="914" cy="164592"/>
          </a:xfrm>
          <a:prstGeom prst="line">
            <a:avLst/>
          </a:prstGeom>
          <a:noFill/>
          <a:ln w="25400">
            <a:solidFill>
              <a:srgbClr val="00336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080760" y="3511296"/>
            <a:ext cx="914" cy="164592"/>
          </a:xfrm>
          <a:prstGeom prst="line">
            <a:avLst/>
          </a:prstGeom>
          <a:noFill/>
          <a:ln w="25400">
            <a:solidFill>
              <a:srgbClr val="00336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080760" y="4242816"/>
            <a:ext cx="914" cy="164592"/>
          </a:xfrm>
          <a:prstGeom prst="line">
            <a:avLst/>
          </a:prstGeom>
          <a:noFill/>
          <a:ln w="25400">
            <a:solidFill>
              <a:srgbClr val="00336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 flipH="1">
            <a:off x="4480560" y="4974336"/>
            <a:ext cx="1600200" cy="274320"/>
          </a:xfrm>
          <a:prstGeom prst="line">
            <a:avLst/>
          </a:prstGeom>
          <a:noFill/>
          <a:ln w="25400">
            <a:solidFill>
              <a:srgbClr val="00336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80760" y="4974336"/>
            <a:ext cx="1600200" cy="283464"/>
          </a:xfrm>
          <a:prstGeom prst="line">
            <a:avLst/>
          </a:prstGeom>
          <a:noFill/>
          <a:ln w="25400">
            <a:solidFill>
              <a:srgbClr val="00336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412480" y="2212848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3E6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8412480" y="2212848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GUI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680960" y="2496312"/>
            <a:ext cx="731520" cy="914"/>
          </a:xfrm>
          <a:prstGeom prst="line">
            <a:avLst/>
          </a:prstGeom>
          <a:noFill/>
          <a:ln w="19050">
            <a:solidFill>
              <a:srgbClr val="5B6472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 flipV="1">
            <a:off x="7680960" y="2858563"/>
            <a:ext cx="1863254" cy="1832309"/>
          </a:xfrm>
          <a:prstGeom prst="line">
            <a:avLst/>
          </a:prstGeom>
          <a:noFill/>
          <a:ln w="19050">
            <a:solidFill>
              <a:srgbClr val="5B6472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animated GUI (dashed lines) runs alongside the pipeline rather than blocking it — every widget update crosses a Qt signal bridge.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Registry Pattern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492240" cy="4114800"/>
          </a:xfrm>
          <a:prstGeom prst="roundRect">
            <a:avLst>
              <a:gd name="adj" fmla="val 2222"/>
            </a:avLst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68680" y="18013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9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brain.py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286000"/>
            <a:ext cx="58521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self.action_registry = {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FD3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("open", "launch", "start"):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self.windows_manager.handle_open,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FD3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("add", "remember to", "new task"):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self.todo_list.handle_add,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FD3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("clear", "delete", "remove"):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self.todo_list.handle_clear,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1600200"/>
            <a:ext cx="4233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it’s built this way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406640" y="2103120"/>
            <a:ext cx="423367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trigger is compiled once, not rebuilt on each command</a:t>
            </a:r>
            <a:endParaRPr lang="en-US" sz="1400" dirty="0"/>
          </a:p>
          <a:p>
            <a:pPr marL="177800" indent="-177800">
              <a:lnSpc>
                <a:spcPct val="110000"/>
              </a:lnSpc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match starts earliest in the string wins</a:t>
            </a:r>
            <a:endParaRPr lang="en-US" sz="1400" dirty="0"/>
          </a:p>
          <a:p>
            <a:pPr marL="177800" indent="-177800">
              <a:lnSpc>
                <a:spcPct val="110000"/>
              </a:lnSpc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handler always returns (voice_reply, debug_log)</a:t>
            </a:r>
            <a:endParaRPr lang="en-US" sz="1400" dirty="0"/>
          </a:p>
          <a:p>
            <a:pPr marL="177800" indent="-177800">
              <a:lnSpc>
                <a:spcPct val="110000"/>
              </a:lnSpc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capability = new class, zero router changes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870448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shown live: todo_list.py’s 4-tier name matcher, gui.py’s thread-safe signal bridge, and config.py’s loader.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IT WORK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Using Wednesday Looks Like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/>
              <a:t>9</a:t>
            </a:r>
          </a:p>
        </p:txBody>
      </p:sp>
      <p:sp>
        <p:nvSpPr>
          <p:cNvPr id="6" name="Shape 4"/>
          <p:cNvSpPr/>
          <p:nvPr/>
        </p:nvSpPr>
        <p:spPr>
          <a:xfrm>
            <a:off x="1097280" y="2240280"/>
            <a:ext cx="3383280" cy="3383280"/>
          </a:xfrm>
          <a:prstGeom prst="ellipse">
            <a:avLst/>
          </a:prstGeom>
          <a:solidFill>
            <a:srgbClr val="1A002C"/>
          </a:solidFill>
          <a:ln/>
          <a:effectLst>
            <a:outerShdw blurRad="177800" dist="508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03020" y="2446020"/>
            <a:ext cx="2971800" cy="2971800"/>
          </a:xfrm>
          <a:prstGeom prst="ellipse">
            <a:avLst/>
          </a:prstGeom>
          <a:ln w="25400">
            <a:solidFill>
              <a:srgbClr val="E0B0FF">
                <a:alpha val="9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485900" y="2628900"/>
            <a:ext cx="2606040" cy="2606040"/>
          </a:xfrm>
          <a:prstGeom prst="ellipse">
            <a:avLst/>
          </a:prstGeom>
          <a:ln w="25400">
            <a:solidFill>
              <a:srgbClr val="BA55D3">
                <a:alpha val="9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668780" y="2811780"/>
            <a:ext cx="2240280" cy="2240280"/>
          </a:xfrm>
          <a:prstGeom prst="ellipse">
            <a:avLst/>
          </a:prstGeom>
          <a:ln w="25400">
            <a:solidFill>
              <a:srgbClr val="8A2BE2">
                <a:alpha val="9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851660" y="2994660"/>
            <a:ext cx="1874520" cy="1874520"/>
          </a:xfrm>
          <a:prstGeom prst="ellipse">
            <a:avLst/>
          </a:prstGeom>
          <a:ln w="25400">
            <a:solidFill>
              <a:srgbClr val="4B0082">
                <a:alpha val="9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286000" y="3429000"/>
            <a:ext cx="1005840" cy="1005840"/>
          </a:xfrm>
          <a:prstGeom prst="ellipse">
            <a:avLst/>
          </a:prstGeom>
          <a:solidFill>
            <a:srgbClr val="BA55D3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51176" y="3694176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502920" y="58064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animated HUD — indigo-to-lavender wave rings around a breathing white core, shown while Wednesday is listening or thinking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645920"/>
            <a:ext cx="5486400" cy="4160520"/>
          </a:xfrm>
          <a:prstGeom prst="roundRect">
            <a:avLst>
              <a:gd name="adj" fmla="val 2198"/>
            </a:avLst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92240" y="1847088"/>
            <a:ext cx="365760" cy="365760"/>
          </a:xfrm>
          <a:prstGeom prst="ellipse">
            <a:avLst/>
          </a:prstGeom>
          <a:solidFill>
            <a:srgbClr val="C8960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icons/FaMicrophoneA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022" y="1934870"/>
            <a:ext cx="190195" cy="19019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6931152" y="1865376"/>
            <a:ext cx="4389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80" dirty="0">
                <a:solidFill>
                  <a:srgbClr val="B9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VOICE EXCHANGE — WAKE WORD: “HEY WEDNESDAY”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492240" y="2359152"/>
            <a:ext cx="4754880" cy="914"/>
          </a:xfrm>
          <a:prstGeom prst="line">
            <a:avLst/>
          </a:prstGeom>
          <a:noFill/>
          <a:ln w="12700">
            <a:solidFill>
              <a:srgbClr val="2A4A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6492240" y="25603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92240" y="285292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 Wednesday, add buy groceries to my list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492240" y="336499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8FD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492240" y="36576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I’ve added buy groceries to your list as task 1.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492240" y="416966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492240" y="446227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Wednesday, open notepad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492240" y="497433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8FD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492240" y="526694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notepad.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HOLD UP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Testing, Not Just Building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DONE SO FAR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0" y="1874520"/>
            <a:ext cx="374188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To-Do List</a:t>
            </a:r>
            <a:endParaRPr lang="en-US" sz="3700" dirty="0"/>
          </a:p>
        </p:txBody>
      </p:sp>
      <p:sp>
        <p:nvSpPr>
          <p:cNvPr id="8" name="Text 6"/>
          <p:cNvSpPr txBox="1"/>
          <p:nvPr/>
        </p:nvSpPr>
        <p:spPr>
          <a:xfrm>
            <a:off x="145737" y="2651760"/>
            <a:ext cx="3697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Adding/Removing/Reading Items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386380" y="1874520"/>
            <a:ext cx="3942693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Management</a:t>
            </a:r>
            <a:endParaRPr lang="en-US" sz="3700" dirty="0"/>
          </a:p>
        </p:txBody>
      </p:sp>
      <p:sp>
        <p:nvSpPr>
          <p:cNvPr id="10" name="Text 8"/>
          <p:cNvSpPr txBox="1"/>
          <p:nvPr/>
        </p:nvSpPr>
        <p:spPr>
          <a:xfrm>
            <a:off x="3431042" y="2646181"/>
            <a:ext cx="3697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Opening/Closing Apps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531222" y="1874520"/>
            <a:ext cx="46130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Management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7943088" y="2651760"/>
            <a:ext cx="3697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Minimizing/Maximizing Window, Going to desktop, Bringing app to top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611880"/>
            <a:ext cx="11091672" cy="914"/>
          </a:xfrm>
          <a:prstGeom prst="line">
            <a:avLst/>
          </a:prstGeom>
          <a:noFill/>
          <a:ln w="12700">
            <a:solidFill>
              <a:srgbClr val="E3E6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548640" y="3840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10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WAKE-WORD MODEL — FINAL VALIDATION RESULTS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206240"/>
            <a:ext cx="36972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66.1%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83480"/>
            <a:ext cx="3697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 held-out wake-word clips (target: ≥50%)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245864" y="4206240"/>
            <a:ext cx="36972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82.05%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4245864" y="4983480"/>
            <a:ext cx="3697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accuracy (target: ≥70%)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943088" y="4206240"/>
            <a:ext cx="36972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3.65/hr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7943088" y="4983480"/>
            <a:ext cx="3697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 on background audio (target: ≤0.5/hr)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893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and accuracy cleared their targets; the false-positive rate came in higher than hoped — 3.65/hr against a 0.5/hr goal — which is the next tuning pass, not a blocker to shipping.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WRAPPING UP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Taught Me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0352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6EB"/>
            </a:solidFill>
            <a:prstDash val="solid"/>
          </a:ln>
          <a:effectLst>
            <a:outerShdw blurRad="76200" dist="25400" dir="5400000" algn="bl" rotWithShape="0">
              <a:srgbClr val="9AA3AF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45820" y="1943100"/>
            <a:ext cx="777240" cy="777240"/>
          </a:xfrm>
          <a:prstGeom prst="ellipse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icons/FaCheck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358" y="2129638"/>
            <a:ext cx="404165" cy="40416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2834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24612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 word + transcription run fully offline — openWakeWord and faster-whisper, no cloud calls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Registry actually stays modular as features get added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text-to-speech working end to end with Piper</a:t>
            </a:r>
          </a:p>
          <a:p>
            <a:pPr marL="177800" indent="-177800">
              <a:lnSpc>
                <a:spcPct val="110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&amp; Resilience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09360" y="1691640"/>
            <a:ext cx="530352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6EB"/>
            </a:solidFill>
            <a:prstDash val="solid"/>
          </a:ln>
          <a:effectLst>
            <a:outerShdw blurRad="76200" dist="25400" dir="5400000" algn="bl" rotWithShape="0">
              <a:srgbClr val="9AA3AF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606540" y="1943100"/>
            <a:ext cx="777240" cy="777240"/>
          </a:xfrm>
          <a:prstGeom prst="ellipse">
            <a:avLst/>
          </a:prstGeom>
          <a:solidFill>
            <a:srgbClr val="C8960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icons/FaLight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78" y="2129638"/>
            <a:ext cx="404165" cy="40416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629400" y="2834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Next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675120" y="324612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the wake-word model to bring false positives down from ~1.3/hr toward the 0.5/hr goal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the assistant so it runs without launching a Python script by hand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beyond fixed trigger phrases toward a small local intent classifier</a:t>
            </a:r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actions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 now runs end to end on-device, wake word included — what’s left is tightening what’s already working, not building what’s missing.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96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8960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unpacked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3248" y="105156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260604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C89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 — Your Personal AI Assistant</a:t>
            </a:r>
          </a:p>
        </p:txBody>
      </p:sp>
      <p:sp>
        <p:nvSpPr>
          <p:cNvPr id="7" name="Text 4"/>
          <p:cNvSpPr txBox="1"/>
          <p:nvPr/>
        </p:nvSpPr>
        <p:spPr>
          <a:xfrm>
            <a:off x="0" y="598932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9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 —  github.com/</a:t>
            </a:r>
            <a:r>
              <a:rPr lang="en-US" sz="1300" dirty="0" err="1">
                <a:solidFill>
                  <a:srgbClr val="B9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Ujjwals-Ghub</a:t>
            </a:r>
            <a:r>
              <a:rPr lang="en-US" sz="1300" dirty="0">
                <a:solidFill>
                  <a:srgbClr val="B9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/wednesday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942</Words>
  <Application>Microsoft Office PowerPoint</Application>
  <PresentationFormat>Widescreen</PresentationFormat>
  <Paragraphs>182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Ujjwal Gupta HCL</cp:lastModifiedBy>
  <cp:revision>3</cp:revision>
  <dcterms:created xsi:type="dcterms:W3CDTF">2026-09-07T18:37:42Z</dcterms:created>
  <dcterms:modified xsi:type="dcterms:W3CDTF">2026-09-08T18:19:43Z</dcterms:modified>
</cp:coreProperties>
</file>