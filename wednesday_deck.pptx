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4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C8E1E-9709-E094-C5DB-C8CA4D81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9049D-68D4-1E20-7325-15EADBB58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FB4FE-737B-0865-57B8-E6310A4D4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B5958-ED1D-A40F-A2A2-7DA5CBBAF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42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EE2BE142-6219-4A32-A8D4-FAE1D2C0A131}"/>
              </a:ext>
            </a:extLst>
          </p:cNvPr>
          <p:cNvGrpSpPr/>
          <p:nvPr/>
        </p:nvGrpSpPr>
        <p:grpSpPr>
          <a:xfrm>
            <a:off x="0" y="-7749"/>
            <a:ext cx="12192000" cy="6858000"/>
            <a:chOff x="0" y="0"/>
            <a:chExt cx="12192000" cy="6858000"/>
          </a:xfrm>
        </p:grpSpPr>
        <p:sp>
          <p:nvSpPr>
            <p:cNvPr id="4" name="Shape 2"/>
            <p:cNvSpPr/>
            <p:nvPr/>
          </p:nvSpPr>
          <p:spPr>
            <a:xfrm>
              <a:off x="0" y="146304"/>
              <a:ext cx="3413760" cy="65592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370311" y="4526280"/>
              <a:ext cx="2663405" cy="487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1FD539-0B18-4B17-AC3E-6C2E56F41895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0" y="0"/>
                <a:ext cx="12192000" cy="146304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" name="Shape 1"/>
              <p:cNvSpPr/>
              <p:nvPr/>
            </p:nvSpPr>
            <p:spPr>
              <a:xfrm>
                <a:off x="0" y="6705600"/>
                <a:ext cx="12192000" cy="152400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3315642" y="146304"/>
                <a:ext cx="8876358" cy="6559296"/>
              </a:xfrm>
              <a:prstGeom prst="rect">
                <a:avLst/>
              </a:prstGeom>
              <a:solidFill>
                <a:srgbClr val="003366"/>
              </a:solidFill>
              <a:ln w="12700">
                <a:solidFill>
                  <a:srgbClr val="00336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E8F91F1-D33C-48E9-9439-A6687AFA7DFD}"/>
                </a:ext>
              </a:extLst>
            </p:cNvPr>
            <p:cNvGrpSpPr/>
            <p:nvPr/>
          </p:nvGrpSpPr>
          <p:grpSpPr>
            <a:xfrm>
              <a:off x="3655695" y="426720"/>
              <a:ext cx="3048000" cy="463296"/>
              <a:chOff x="3655695" y="426720"/>
              <a:chExt cx="3048000" cy="463296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3655695" y="426720"/>
                <a:ext cx="3048000" cy="463296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3794241" y="426720"/>
                <a:ext cx="2770909" cy="4632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003366"/>
                    </a:solidFill>
                  </a:rPr>
                  <a:t>TERM PROJECT</a:t>
                </a:r>
                <a:endParaRPr lang="en-US" sz="1600" dirty="0"/>
              </a:p>
            </p:txBody>
          </p:sp>
        </p:grpSp>
        <p:sp>
          <p:nvSpPr>
            <p:cNvPr id="15" name="Shape 13"/>
            <p:cNvSpPr/>
            <p:nvPr/>
          </p:nvSpPr>
          <p:spPr>
            <a:xfrm>
              <a:off x="3533775" y="2687513"/>
              <a:ext cx="8168640" cy="502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394E0BD-D4FA-419D-AC66-F1E64F9FA301}"/>
                </a:ext>
              </a:extLst>
            </p:cNvPr>
            <p:cNvGrpSpPr/>
            <p:nvPr/>
          </p:nvGrpSpPr>
          <p:grpSpPr>
            <a:xfrm>
              <a:off x="44169" y="445008"/>
              <a:ext cx="3212862" cy="5547360"/>
              <a:chOff x="187044" y="292608"/>
              <a:chExt cx="3048000" cy="5376672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87044" y="3413760"/>
                <a:ext cx="3048000" cy="975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330" b="1" dirty="0">
                    <a:solidFill>
                      <a:srgbClr val="003366"/>
                    </a:solidFill>
                  </a:rPr>
                  <a:t>Indian Institute of Technology</a:t>
                </a:r>
                <a:r>
                  <a:rPr lang="en-US" sz="1330" dirty="0"/>
                  <a:t> </a:t>
                </a:r>
                <a:r>
                  <a:rPr lang="en-US" sz="1330" b="1" dirty="0">
                    <a:solidFill>
                      <a:srgbClr val="003366"/>
                    </a:solidFill>
                  </a:rPr>
                  <a:t>Guwahati</a:t>
                </a:r>
                <a:endParaRPr lang="en-US" sz="133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87044" y="4572000"/>
                <a:ext cx="30480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BSc. (Hons.) Data Science &amp; Artificial Intelligence</a:t>
                </a:r>
              </a:p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Online Degree Programme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64F0957D-3F23-4706-88FD-94B6648BF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098" y="292608"/>
                <a:ext cx="2879893" cy="2889504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A530B8-A3A2-4978-A35E-7D117B7D701A}"/>
              </a:ext>
            </a:extLst>
          </p:cNvPr>
          <p:cNvGrpSpPr/>
          <p:nvPr/>
        </p:nvGrpSpPr>
        <p:grpSpPr>
          <a:xfrm>
            <a:off x="3794241" y="2996670"/>
            <a:ext cx="8107680" cy="2760457"/>
            <a:chOff x="3637171" y="2996670"/>
            <a:chExt cx="8107680" cy="276045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838290-E246-4CFE-9595-3A86F1A7A8C3}"/>
                </a:ext>
              </a:extLst>
            </p:cNvPr>
            <p:cNvGrpSpPr/>
            <p:nvPr/>
          </p:nvGrpSpPr>
          <p:grpSpPr>
            <a:xfrm>
              <a:off x="3637171" y="2996670"/>
              <a:ext cx="2316480" cy="2760456"/>
              <a:chOff x="3560971" y="2931943"/>
              <a:chExt cx="2316480" cy="2760456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3560971" y="293194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Name :</a:t>
                </a:r>
                <a:endParaRPr lang="en-US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560971" y="332293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ID :</a:t>
                </a:r>
                <a:endParaRPr lang="en-US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560971" y="4104907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Programme :</a:t>
                </a:r>
                <a:endParaRPr lang="en-US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560971" y="4495895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Code :</a:t>
                </a:r>
                <a:endParaRPr lang="en-US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3560971" y="488688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Name :</a:t>
                </a:r>
                <a:endParaRPr lang="en-US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3560971" y="527787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Trimester :</a:t>
                </a:r>
                <a:endParaRPr lang="en-US" dirty="0"/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3144A76E-D519-41CC-9D78-E279B752AECC}"/>
                  </a:ext>
                </a:extLst>
              </p:cNvPr>
              <p:cNvSpPr/>
              <p:nvPr/>
            </p:nvSpPr>
            <p:spPr>
              <a:xfrm>
                <a:off x="3560971" y="3713919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Email ID :</a:t>
                </a:r>
                <a:endParaRPr lang="en-US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734901-5BF2-49C3-910A-97290AE0D4FF}"/>
                </a:ext>
              </a:extLst>
            </p:cNvPr>
            <p:cNvGrpSpPr/>
            <p:nvPr/>
          </p:nvGrpSpPr>
          <p:grpSpPr>
            <a:xfrm>
              <a:off x="6014611" y="2996671"/>
              <a:ext cx="5730240" cy="2760456"/>
              <a:chOff x="5938411" y="2924237"/>
              <a:chExt cx="5730240" cy="276045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5938411" y="292423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Ujjwal Gupta</a:t>
                </a:r>
                <a:endParaRPr lang="en-US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938411" y="331522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23035011036</a:t>
                </a:r>
                <a:endParaRPr lang="en-US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938411" y="4097201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BSc. (Hons.) Data Science &amp; AI</a:t>
                </a:r>
                <a:endParaRPr lang="en-US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938411" y="4488189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DA379</a:t>
                </a:r>
                <a:endParaRPr lang="en-US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5938411" y="487917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Term Project III</a:t>
                </a:r>
                <a:endParaRPr lang="en-US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938411" y="527016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 IX</a:t>
                </a:r>
                <a:endParaRPr lang="en-US" dirty="0"/>
              </a:p>
            </p:txBody>
          </p:sp>
          <p:sp>
            <p:nvSpPr>
              <p:cNvPr id="33" name="Text 17">
                <a:extLst>
                  <a:ext uri="{FF2B5EF4-FFF2-40B4-BE49-F238E27FC236}">
                    <a16:creationId xmlns:a16="http://schemas.microsoft.com/office/drawing/2014/main" id="{D9C22DD5-566E-4E5C-B5B7-EF56DE8DF892}"/>
                  </a:ext>
                </a:extLst>
              </p:cNvPr>
              <p:cNvSpPr/>
              <p:nvPr/>
            </p:nvSpPr>
            <p:spPr>
              <a:xfrm>
                <a:off x="5938411" y="3706213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g.ujjwal@op.iitg.ac.in</a:t>
                </a:r>
                <a:endParaRPr lang="en-US" dirty="0"/>
              </a:p>
            </p:txBody>
          </p:sp>
        </p:grpSp>
      </p:grpSp>
      <p:sp>
        <p:nvSpPr>
          <p:cNvPr id="14" name="Text 12"/>
          <p:cNvSpPr/>
          <p:nvPr/>
        </p:nvSpPr>
        <p:spPr>
          <a:xfrm>
            <a:off x="3560971" y="711756"/>
            <a:ext cx="8168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00" b="1" dirty="0">
                <a:solidFill>
                  <a:srgbClr val="FFFFFF"/>
                </a:solidFill>
              </a:rPr>
              <a:t>Wednesday: Your Personal AI Assistant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2286000" cy="2286000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FaUser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0896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0" y="23317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Ujjwal Gupta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9718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BSc. (Hons.) Data Science &amp; Artificial Intelligence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Guwahati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0" y="388620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114800" y="38862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Project 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46177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Wednesday — Your Personal AI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Another Voice Assistant?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2057400"/>
            <a:ext cx="914400" cy="914400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Fa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2276856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Voice Assistants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70332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word, decision-making, and skills all live on someone else’s server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connection, no assistant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said near the mic leaves the room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09360" y="173736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03920" y="2057400"/>
            <a:ext cx="914400" cy="91440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FaMicro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227685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Set Out to Build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370332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end-to-end on my own Windows machine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skill is one small module, not a rewrite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pipeline stays off the cloud</a:t>
            </a:r>
            <a:endParaRPr lang="en-US" sz="14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A211A82-239F-54A1-C64C-575C199D5DC5}"/>
              </a:ext>
            </a:extLst>
          </p:cNvPr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between “convenient” and “private” is what got me interested in building Wednesday.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F46B9-F029-7888-D51C-B8C6AF3E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D3DBE5-70D5-7B64-F501-2CA15A135882}"/>
              </a:ext>
            </a:extLst>
          </p:cNvPr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DEVELOPERS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639234-7A9E-4510-8B94-B052AFEDD206}"/>
              </a:ext>
            </a:extLst>
          </p:cNvPr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Build what?</a:t>
            </a:r>
            <a:endParaRPr lang="en-US" sz="2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21AACA-3B1F-8796-898E-0D4DC363382F}"/>
              </a:ext>
            </a:extLst>
          </p:cNvPr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5FD38D-41A7-EA0A-E499-8835DFF83A2F}"/>
              </a:ext>
            </a:extLst>
          </p:cNvPr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D387B74-FEC2-A741-0F72-97CC8B92DD7C}"/>
              </a:ext>
            </a:extLst>
          </p:cNvPr>
          <p:cNvSpPr/>
          <p:nvPr/>
        </p:nvSpPr>
        <p:spPr>
          <a:xfrm>
            <a:off x="548640" y="173736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122F7B4-73FB-1E84-5510-ED41A0A79AA5}"/>
              </a:ext>
            </a:extLst>
          </p:cNvPr>
          <p:cNvSpPr/>
          <p:nvPr/>
        </p:nvSpPr>
        <p:spPr>
          <a:xfrm>
            <a:off x="2743200" y="2057400"/>
            <a:ext cx="914400" cy="914400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9259D94-6D58-2172-4312-4506E1F52EAF}"/>
              </a:ext>
            </a:extLst>
          </p:cNvPr>
          <p:cNvSpPr txBox="1"/>
          <p:nvPr/>
        </p:nvSpPr>
        <p:spPr>
          <a:xfrm>
            <a:off x="82296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 Raj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CF8F956-CEC7-E9E0-BAB1-91BE1F7D2148}"/>
              </a:ext>
            </a:extLst>
          </p:cNvPr>
          <p:cNvSpPr txBox="1"/>
          <p:nvPr/>
        </p:nvSpPr>
        <p:spPr>
          <a:xfrm>
            <a:off x="1005840" y="370332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/>
              <a:t>Audio Pipeline</a:t>
            </a:r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/>
              <a:t>Deep Learning models</a:t>
            </a:r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/>
              <a:t>Speech I/O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6DEAC66-731B-3BCC-C690-CBE525B05ADD}"/>
              </a:ext>
            </a:extLst>
          </p:cNvPr>
          <p:cNvSpPr/>
          <p:nvPr/>
        </p:nvSpPr>
        <p:spPr>
          <a:xfrm>
            <a:off x="6309360" y="173736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0393B9A-98ED-5D5D-2BC6-D2544124B2AB}"/>
              </a:ext>
            </a:extLst>
          </p:cNvPr>
          <p:cNvSpPr/>
          <p:nvPr/>
        </p:nvSpPr>
        <p:spPr>
          <a:xfrm>
            <a:off x="8503920" y="2057400"/>
            <a:ext cx="914400" cy="91440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213C3E2-11A5-6523-E525-5893380EBC76}"/>
              </a:ext>
            </a:extLst>
          </p:cNvPr>
          <p:cNvSpPr txBox="1"/>
          <p:nvPr/>
        </p:nvSpPr>
        <p:spPr>
          <a:xfrm>
            <a:off x="658368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Ujjwal Gupta</a:t>
            </a:r>
            <a:endParaRPr lang="en-US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85820BA-F618-D55B-A408-9C33E531C82B}"/>
              </a:ext>
            </a:extLst>
          </p:cNvPr>
          <p:cNvSpPr txBox="1"/>
          <p:nvPr/>
        </p:nvSpPr>
        <p:spPr>
          <a:xfrm>
            <a:off x="6766560" y="370332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/>
              <a:t>Core Modules</a:t>
            </a:r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/>
              <a:t>Command Dispatcher</a:t>
            </a:r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/>
              <a:t>Action Modules</a:t>
            </a:r>
          </a:p>
        </p:txBody>
      </p:sp>
      <p:pic>
        <p:nvPicPr>
          <p:cNvPr id="20" name="Image 0" descr="icons/FaUserCircle.png">
            <a:extLst>
              <a:ext uri="{FF2B5EF4-FFF2-40B4-BE49-F238E27FC236}">
                <a16:creationId xmlns:a16="http://schemas.microsoft.com/office/drawing/2014/main" id="{A9843038-88CD-1C49-A269-29D94D91D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856232"/>
            <a:ext cx="1188720" cy="1188720"/>
          </a:xfrm>
          <a:prstGeom prst="rect">
            <a:avLst/>
          </a:prstGeom>
        </p:spPr>
      </p:pic>
      <p:pic>
        <p:nvPicPr>
          <p:cNvPr id="22" name="Image 0" descr="icons/FaUserCircle.png">
            <a:extLst>
              <a:ext uri="{FF2B5EF4-FFF2-40B4-BE49-F238E27FC236}">
                <a16:creationId xmlns:a16="http://schemas.microsoft.com/office/drawing/2014/main" id="{3D81B7D8-017E-F05B-6794-58CE5352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920240"/>
            <a:ext cx="1188720" cy="118872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24F78299-2B5C-0DBB-9737-61EADE44FC19}"/>
              </a:ext>
            </a:extLst>
          </p:cNvPr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co-developed by me and Arpit.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8482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Wednesday Is Built With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17192" y="1988820"/>
            <a:ext cx="960120" cy="960120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Fa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21" y="2219249"/>
            <a:ext cx="499262" cy="4992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1089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593592"/>
            <a:ext cx="3057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14416" y="1988820"/>
            <a:ext cx="960120" cy="96012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Fa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845" y="221924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74464" y="31089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565904" y="3593592"/>
            <a:ext cx="3057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Animated, thread-safe GUI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311640" y="1988820"/>
            <a:ext cx="960120" cy="960120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FaWave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2069" y="2219249"/>
            <a:ext cx="499262" cy="4992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1688" y="31089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TTS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263128" y="3593592"/>
            <a:ext cx="3057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neural voice output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917192" y="4297680"/>
            <a:ext cx="960120" cy="96012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icons/FaWindow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621" y="4528109"/>
            <a:ext cx="499262" cy="49926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77240" y="541782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AppOpener + PyGetWindow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868680" y="5902452"/>
            <a:ext cx="3057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automation on Windows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614416" y="4297680"/>
            <a:ext cx="960120" cy="960120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icons/Fa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4845" y="4528109"/>
            <a:ext cx="499262" cy="49926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474464" y="541782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4565904" y="5902452"/>
            <a:ext cx="3057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to-do persistence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9311640" y="4297680"/>
            <a:ext cx="960120" cy="96012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icons/FaMicrophone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2069" y="4528109"/>
            <a:ext cx="499262" cy="49926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171688" y="541782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openWakeWord + faster-whisper</a:t>
            </a:r>
            <a:endParaRPr lang="en-US" sz="1550" dirty="0"/>
          </a:p>
        </p:txBody>
      </p:sp>
      <p:sp>
        <p:nvSpPr>
          <p:cNvPr id="29" name="Text 21"/>
          <p:cNvSpPr txBox="1"/>
          <p:nvPr/>
        </p:nvSpPr>
        <p:spPr>
          <a:xfrm>
            <a:off x="8263128" y="5902452"/>
            <a:ext cx="3057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wake-word detection &amp; transcription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Classic Dataset — But Data All the Same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44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1540" y="1965960"/>
            <a:ext cx="685800" cy="685800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Fa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213055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83080" y="1901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2860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settings — text/voice mode, wake words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06540" y="1965960"/>
            <a:ext cx="685800" cy="685800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Fa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213055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98080" y="19019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todo.json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22860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task store the assistant reads &amp; writes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3063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BEHIND THE CUSTOM WAKE-WORD MODEL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401568"/>
            <a:ext cx="3454603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841602" y="3653028"/>
            <a:ext cx="868680" cy="86868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icons/FaWave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0085" y="3861511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7240" y="4636008"/>
            <a:ext cx="29974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Impulse Responses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5184648"/>
            <a:ext cx="290596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~270 room-acoustic clips, used to make synthetic wake-word samples sound like they were spoken in a real room.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369003" y="3401568"/>
            <a:ext cx="3454603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661965" y="3653028"/>
            <a:ext cx="868680" cy="868680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icons/Fa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861511"/>
            <a:ext cx="451714" cy="45171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597603" y="4636008"/>
            <a:ext cx="29974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ACAV100M Features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4643323" y="5184648"/>
            <a:ext cx="290596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negative-audio feature set, used to test the wake-word model against everyday background sound.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189366" y="3401568"/>
            <a:ext cx="3454603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482328" y="3653028"/>
            <a:ext cx="868680" cy="86868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icons/FaMus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0811" y="3861511"/>
            <a:ext cx="451714" cy="45171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417966" y="4636008"/>
            <a:ext cx="29974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 (Free Music Archive)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8463686" y="5184648"/>
            <a:ext cx="290596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music clips used as hard negatives, so music playing nearby doesn’t trigger the wake word.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Fully Pluggable Actions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480560" y="1481328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480560" y="148132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212848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80560" y="221284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 Heard?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944368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294436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(STT)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3675888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480560" y="367588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Matching (Action Registry)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4407408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480560" y="440740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Execution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0903" y="525780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DD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726180" y="524865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Reply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72723" y="525780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DD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58000" y="525780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2048256"/>
            <a:ext cx="914" cy="164592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80760" y="2779776"/>
            <a:ext cx="914" cy="164592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0760" y="3511296"/>
            <a:ext cx="914" cy="164592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0760" y="4242816"/>
            <a:ext cx="914" cy="164592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H="1">
            <a:off x="4480560" y="4974336"/>
            <a:ext cx="1600200" cy="274320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4974336"/>
            <a:ext cx="1600200" cy="283464"/>
          </a:xfrm>
          <a:prstGeom prst="line">
            <a:avLst/>
          </a:prstGeom>
          <a:noFill/>
          <a:ln w="25400">
            <a:solidFill>
              <a:srgbClr val="0033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12480" y="2212848"/>
            <a:ext cx="22860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412480" y="221284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GUI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80960" y="2496312"/>
            <a:ext cx="731520" cy="914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7680960" y="2858563"/>
            <a:ext cx="1863254" cy="1832309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animated GUI (dashed lines) runs alongside the pipeline rather than blocking it — every widget update crosses a Qt signal bridge.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Registry Pattern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92240" cy="4114800"/>
          </a:xfrm>
          <a:prstGeom prst="roundRect">
            <a:avLst>
              <a:gd name="adj" fmla="val 2222"/>
            </a:avLst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801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brain.py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5852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self.action_registry = {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("open", "launch", "start"):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self.windows_manager.handle_open,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("add", "remember to", "new task"):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self.todo_list.handle_add,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("clear", "delete", "remove"):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self.todo_list.handle_clear,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600200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built this way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103120"/>
            <a:ext cx="42336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is compiled once, not rebuilt on each command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match starts earliest in the string wins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handler always returns (voice_reply, debug_log)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 = new class, zero router changes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shown live: todo_list.py’s 4-tier name matcher, gui.py’s thread-safe signal bridge, and config.py’s loader.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IT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Using Wednesday Looks Like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9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3383280" cy="3383280"/>
          </a:xfrm>
          <a:prstGeom prst="ellipse">
            <a:avLst/>
          </a:prstGeom>
          <a:solidFill>
            <a:srgbClr val="1A002C"/>
          </a:solidFill>
          <a:ln/>
          <a:effectLst>
            <a:outerShdw blurRad="1778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03020" y="2446020"/>
            <a:ext cx="2971800" cy="2971800"/>
          </a:xfrm>
          <a:prstGeom prst="ellipse">
            <a:avLst/>
          </a:prstGeom>
          <a:ln w="25400">
            <a:solidFill>
              <a:srgbClr val="E0B0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85900" y="2628900"/>
            <a:ext cx="2606040" cy="2606040"/>
          </a:xfrm>
          <a:prstGeom prst="ellipse">
            <a:avLst/>
          </a:prstGeom>
          <a:ln w="25400">
            <a:solidFill>
              <a:srgbClr val="BA55D3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68780" y="2811780"/>
            <a:ext cx="2240280" cy="2240280"/>
          </a:xfrm>
          <a:prstGeom prst="ellipse">
            <a:avLst/>
          </a:prstGeom>
          <a:ln w="25400">
            <a:solidFill>
              <a:srgbClr val="8A2BE2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51660" y="2994660"/>
            <a:ext cx="1874520" cy="1874520"/>
          </a:xfrm>
          <a:prstGeom prst="ellipse">
            <a:avLst/>
          </a:prstGeom>
          <a:ln w="25400">
            <a:solidFill>
              <a:srgbClr val="4B0082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0" y="3429000"/>
            <a:ext cx="1005840" cy="1005840"/>
          </a:xfrm>
          <a:prstGeom prst="ellipse">
            <a:avLst/>
          </a:prstGeom>
          <a:solidFill>
            <a:srgbClr val="BA55D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51176" y="36941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5806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animated HUD — indigo-to-lavender wave rings around a breathing white core, shown while Wednesday is listening or thinking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1847088"/>
            <a:ext cx="365760" cy="36576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icons/FaMicrophone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2" y="1934870"/>
            <a:ext cx="190195" cy="19019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931152" y="186537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EXCHANGE — WAKE WORD: “HEY WEDNESDAY”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92240" y="2359152"/>
            <a:ext cx="4754880" cy="914"/>
          </a:xfrm>
          <a:prstGeom prst="line">
            <a:avLst/>
          </a:prstGeom>
          <a:noFill/>
          <a:ln w="12700">
            <a:solidFill>
              <a:srgbClr val="2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92240" y="2560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28529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 Wednesday, add buy groceries to my list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3364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F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I’ve added buy groceries to your list as task 1.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41696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4622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open notepad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9743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F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526694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notepad.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HOLD 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Not Just Building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DONE SO FAR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0" y="1874520"/>
            <a:ext cx="374188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</a:t>
            </a:r>
            <a:endParaRPr lang="en-US" sz="3700" dirty="0"/>
          </a:p>
        </p:txBody>
      </p:sp>
      <p:sp>
        <p:nvSpPr>
          <p:cNvPr id="8" name="Text 6"/>
          <p:cNvSpPr txBox="1"/>
          <p:nvPr/>
        </p:nvSpPr>
        <p:spPr>
          <a:xfrm>
            <a:off x="145737" y="2651760"/>
            <a:ext cx="3697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Adding/Removing/Reading Items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386380" y="1874520"/>
            <a:ext cx="394269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Management</a:t>
            </a:r>
            <a:endParaRPr lang="en-US" sz="3700" dirty="0"/>
          </a:p>
        </p:txBody>
      </p:sp>
      <p:sp>
        <p:nvSpPr>
          <p:cNvPr id="10" name="Text 8"/>
          <p:cNvSpPr txBox="1"/>
          <p:nvPr/>
        </p:nvSpPr>
        <p:spPr>
          <a:xfrm>
            <a:off x="3431042" y="2646181"/>
            <a:ext cx="3697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Opening/Closing Apps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531222" y="1874520"/>
            <a:ext cx="46130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Management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7943088" y="2651760"/>
            <a:ext cx="3697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Minimizing/Maximizing Window, Going to desktop, Bringing app to top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91672" cy="914"/>
          </a:xfrm>
          <a:prstGeom prst="line">
            <a:avLst/>
          </a:prstGeom>
          <a:noFill/>
          <a:ln w="12700">
            <a:solidFill>
              <a:srgbClr val="E3E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840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1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WAKE-WORD MODEL — FINAL VALIDATION RESULTS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3697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3697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held-out wake-word clips (target: ≥50%)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245864" y="4206240"/>
            <a:ext cx="3697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82.05%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245864" y="4983480"/>
            <a:ext cx="3697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(target: ≥70%)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943088" y="4206240"/>
            <a:ext cx="3697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3.65/hr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7943088" y="4983480"/>
            <a:ext cx="3697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background audio (target: ≤0.5/hr)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accuracy cleared their targets; the false-positive rate came in higher than hoped — 3.65/hr against a 0.5/hr goal — which is the next tuning pass, not a blocker to shipping.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223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Taught Me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311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5820" y="1943100"/>
            <a:ext cx="777240" cy="777240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Fa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212963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2461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 + transcription run fully offline — openWakeWord and faster-whisper, no cloud calls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Registry actually stays modular as features get added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text-to-speech working end to end with Piper</a:t>
            </a:r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Resilience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69164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blurRad="76200" dist="25400" dir="5400000" algn="bl" rotWithShape="0">
              <a:srgbClr val="9AA3A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06540" y="1943100"/>
            <a:ext cx="777240" cy="777240"/>
          </a:xfrm>
          <a:prstGeom prst="ellipse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Fa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78" y="212963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2940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324612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wake-word model to bring false positives down from ~1.3/hr toward the 0.5/hr goal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assistant so it runs without launching a Python script by hand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fixed trigger phrases toward a small local intent classifier</a:t>
            </a:r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actions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now runs end to end on-device, wake word included — what’s left is tightening what’s already working, not building what’s missing.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896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— Your Personal AI Assistant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—  github.com/</a:t>
            </a:r>
            <a:r>
              <a:rPr lang="en-US" sz="1300" dirty="0" err="1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Ujjwals-Ghub</a:t>
            </a:r>
            <a:r>
              <a:rPr lang="en-US" sz="13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/wednesday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961</Words>
  <Application>Microsoft Office PowerPoint</Application>
  <PresentationFormat>Widescreen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Ujjwal Gupta HCL</cp:lastModifiedBy>
  <cp:revision>5</cp:revision>
  <dcterms:created xsi:type="dcterms:W3CDTF">2026-09-07T18:37:42Z</dcterms:created>
  <dcterms:modified xsi:type="dcterms:W3CDTF">2026-09-08T19:17:34Z</dcterms:modified>
</cp:coreProperties>
</file>